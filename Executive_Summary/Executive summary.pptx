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1" r:id="rId6"/>
    <p:sldId id="279" r:id="rId7"/>
    <p:sldId id="280" r:id="rId8"/>
    <p:sldId id="27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2752"/>
    <a:srgbClr val="E3A097"/>
    <a:srgbClr val="F5D9D7"/>
    <a:srgbClr val="263025"/>
    <a:srgbClr val="334031"/>
    <a:srgbClr val="8A9161"/>
    <a:srgbClr val="81875A"/>
    <a:srgbClr val="000000"/>
    <a:srgbClr val="EFE0BE"/>
    <a:srgbClr val="F7F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621" y="6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6/15/2026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032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18E9-AB29-031B-7382-D15C9320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F00CE-7D6E-F81F-D556-811BA3C0F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62756-15AC-9D0D-87B8-66763DC09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6570A-61DC-49C8-989B-567ADC5E3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6838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C579-B5DD-CBBA-0D95-D121512E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24B9C-4792-99DE-9495-5C71EEC01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B263D-D228-B878-EE83-358F11DAF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195FE-52E4-C729-B37D-CFC4473C6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74000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3959E-C8AF-2C32-A4AC-D79C711CACEF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91AA11-ABBF-BFA0-AACD-5E0262702116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6BE39-5971-4916-1DD7-91D7C3F31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D84773-7D11-C9D4-A19C-4265A176E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C2FAC39-06DA-FEF0-2302-B02B7C1CD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44C766-4DBD-CE50-9374-1427F1FAE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0B4AC9CD-0374-4BE7-8481-7982C4A3E9D1}" type="datetime1">
              <a:rPr lang="en-US" smtClean="0"/>
              <a:t>6/15/2026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2CFA45-BBBD-162A-70AD-0B37540578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9154-5D3B-2CDD-4D46-FD8867E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4DDF44-6A4A-DA03-A8BE-598DC99E8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7F1B34D-5253-5267-DEAA-572BCF19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222400DF-651A-4479-9C74-9CDA47151016}" type="datetime1">
              <a:rPr lang="en-US" smtClean="0"/>
              <a:t>6/15/2026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F555129-A180-DABF-24A6-1FBDA958D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309519-3E22-556C-E01C-12137A86C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7DDB1-50BA-053F-5044-13CD972E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0F5E438-B3C9-C45F-E900-E6E1E3E8DB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656" y="850392"/>
            <a:ext cx="4844144" cy="54041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B0408-F353-B756-0CA4-644E881D1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520D91-492B-A641-A848-BEB3248265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1201FEBF-D140-4633-9B70-3A503CA61AD4}" type="datetime1">
              <a:rPr lang="en-US" smtClean="0"/>
              <a:t>6/15/2026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9AFCA-1D1A-D583-A3C7-F086816A23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606A35E-DBB6-E5DF-F837-92E894D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99541C-E35F-E909-EAA3-7931F9A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B7DBB6-A2E9-1B6C-7928-330959C462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560E12-0714-B7BE-9ED4-842720026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0033C0F-A5E1-BC81-421E-44E417A2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BBC30C-0776-B059-2CBB-EE2982ECB7D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B63BE472-3891-4216-B770-F52E53667131}" type="datetime1">
              <a:rPr lang="en-US" smtClean="0"/>
              <a:t>6/15/2026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7B972-F1A2-D06A-182F-39D29608A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484A33-80F1-829D-3F76-3176D5B8D51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9658" y="850392"/>
            <a:ext cx="4844142" cy="515353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3E568F1-97D8-9686-E47A-F520BE6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74116E6-D006-0D1F-861D-2B50A4E1D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92C9618A-2189-4802-BD34-F288EF802528}" type="datetime1">
              <a:rPr lang="en-US" smtClean="0"/>
              <a:t>6/15/2026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8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FDFBEE-19C9-1F3E-D9C5-CE7C9A3CD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520" y="2651758"/>
            <a:ext cx="10515601" cy="3466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94F3BC-3534-81A8-CF89-6C667BDF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02BD2-09CD-274D-9F5F-AD0DCD9B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F9880A97-BB72-4C49-B020-C005FF9D43B4}" type="datetime1">
              <a:rPr lang="en-US" smtClean="0"/>
              <a:t>6/15/2026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CFE4-8E78-B00D-57EB-B4DF9B274276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81E591-3873-6FE4-95EB-DA604EDF9EBC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C9956-6C25-EB39-6997-F949957C6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8B0979-92D8-B3DF-EEC8-6ACC5604F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DA40DDB-ECC4-BF05-805D-56550EB8CB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7472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73152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3152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0972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585FEF-898A-BE20-0E49-7060E3A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AC8CAA-7BE1-C6AD-8CAA-7EF23C3F38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8B1E16E5-E5E5-4583-9AF7-83D9607A8145}" type="datetime1">
              <a:rPr lang="en-US" smtClean="0"/>
              <a:t>6/15/2026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972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3CA3B387-33D3-4D27-BE27-9B85ACC6AC8A}" type="datetime1">
              <a:rPr lang="en-US" smtClean="0"/>
              <a:t>6/15/2026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08E0E-05B9-F221-80C3-04CA4E4ABA35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2231DE-625E-E718-1111-43464C19E14D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307328-46EA-E83E-5BCB-1C57369D3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03F6C5-78F9-FA16-B62C-389A70997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18" r:id="rId3"/>
    <p:sldLayoutId id="2147483712" r:id="rId4"/>
    <p:sldLayoutId id="2147483719" r:id="rId5"/>
    <p:sldLayoutId id="2147483705" r:id="rId6"/>
    <p:sldLayoutId id="2147483713" r:id="rId7"/>
    <p:sldLayoutId id="2147483699" r:id="rId8"/>
    <p:sldLayoutId id="2147483716" r:id="rId9"/>
    <p:sldLayoutId id="2147483702" r:id="rId10"/>
    <p:sldLayoutId id="2147483714" r:id="rId11"/>
    <p:sldLayoutId id="2147483720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/>
          <a:lstStyle/>
          <a:p>
            <a:r>
              <a:rPr lang="en-IN" dirty="0"/>
              <a:t>Decoding Customer Value: A SQL-Driven Retention Strategy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AMAN RAJ</a:t>
            </a:r>
          </a:p>
          <a:p>
            <a:r>
              <a:rPr lang="en-US" dirty="0"/>
              <a:t>PRATIK RAJ SINGH</a:t>
            </a: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76A9BB-1893-0104-C8CB-0EDB1EB9669E}"/>
              </a:ext>
            </a:extLst>
          </p:cNvPr>
          <p:cNvSpPr txBox="1"/>
          <p:nvPr/>
        </p:nvSpPr>
        <p:spPr>
          <a:xfrm>
            <a:off x="673509" y="511278"/>
            <a:ext cx="112923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accent3">
                    <a:lumMod val="75000"/>
                  </a:schemeClr>
                </a:solidFill>
              </a:rPr>
              <a:t>Decoding Customer Value: Moving From Volume to Margin-Driven Loyalty</a:t>
            </a:r>
            <a:endParaRPr lang="en-IN" sz="3200" b="1" u="sng" dirty="0">
              <a:solidFill>
                <a:schemeClr val="accent3">
                  <a:lumMod val="7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32F2866-8FD8-CE16-6B2B-B0FF67AAC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28" y="2566618"/>
            <a:ext cx="5909188" cy="377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Constraints: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Raw matrix lacked pre-defined loyalty scores, churn labels, or historical timestamps. Imputed missing reviews with a dataset median of 3.75.extract_text()].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Engineered Indicators: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*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Dependency Score: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Trailing promo voucher use rate per 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CLV Proxy: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Current item spend</a:t>
            </a:r>
            <a:r>
              <a:rPr lang="en-US" altLang="en-US" sz="1600" dirty="0">
                <a:latin typeface="Google Sans Text"/>
              </a:rPr>
              <a:t>*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(Previous Purchases + 1).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Core Analytical Challenge (Model Test):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 A (Frequency-Driven):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Labeled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2,014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Loyal based strictly on </a:t>
            </a:r>
            <a:r>
              <a:rPr lang="en-US" altLang="en-US" sz="1600" dirty="0">
                <a:latin typeface="Google Sans Text"/>
              </a:rPr>
              <a:t>&gt;=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25$ purchases history.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Flaw: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Over-indexes on artificial transaction volume by failing to filter out margin-diluting discount seekers.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 B (Margin-Driven —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SELECTED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Isolated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1,109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who hold above-median CLV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0% discount reliance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Advantage: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Pinpoints authentic full-retail brand pull.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8F3B0-6693-A139-B5F2-F860CA4939B8}"/>
              </a:ext>
            </a:extLst>
          </p:cNvPr>
          <p:cNvSpPr txBox="1"/>
          <p:nvPr/>
        </p:nvSpPr>
        <p:spPr>
          <a:xfrm>
            <a:off x="673509" y="1395995"/>
            <a:ext cx="10063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Structural </a:t>
            </a:r>
            <a:r>
              <a:rPr lang="en-IN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behavior</a:t>
            </a:r>
            <a:r>
              <a:rPr lang="en-IN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analysis of 3,900 unique D2C profiles to secure retail margins</a:t>
            </a:r>
            <a:r>
              <a:rPr lang="en-IN" dirty="0"/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DC9966-6943-7458-946F-E69141D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74" y="1942157"/>
            <a:ext cx="3962400" cy="1998985"/>
          </a:xfrm>
          <a:prstGeom prst="rect">
            <a:avLst/>
          </a:prstGeom>
        </p:spPr>
      </p:pic>
      <p:sp>
        <p:nvSpPr>
          <p:cNvPr id="18" name="Rectangle 6">
            <a:extLst>
              <a:ext uri="{FF2B5EF4-FFF2-40B4-BE49-F238E27FC236}">
                <a16:creationId xmlns:a16="http://schemas.microsoft.com/office/drawing/2014/main" id="{FF731E0C-0BE8-FCAB-C21D-23CADEA9F8B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43020" y="3941142"/>
            <a:ext cx="44048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High-Value Tier (Top Segment):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1,325 Customers |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$101,013 Gross Sales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43.32% Promotional Reliance.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Mid-Value Tier (Middle Segment):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1,284 Customers |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$70,010 Gross Sales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44.00% Promotional Reliance.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Low-Value Tier (Bottom Segment):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1,291 Customers |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$62,058 Gross Sales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41.67% Promotional Reliance.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7ED5C-B2EA-B4CF-1010-3777604810DD}"/>
              </a:ext>
            </a:extLst>
          </p:cNvPr>
          <p:cNvSpPr txBox="1"/>
          <p:nvPr/>
        </p:nvSpPr>
        <p:spPr>
          <a:xfrm>
            <a:off x="673509" y="1942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PYTHON FEATURE CHALLENGE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8E0AA-6B71-EFB4-2FAD-2AD2C3D1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6F5297-7A5B-97AC-1565-E9F746DA3424}"/>
              </a:ext>
            </a:extLst>
          </p:cNvPr>
          <p:cNvSpPr txBox="1"/>
          <p:nvPr/>
        </p:nvSpPr>
        <p:spPr>
          <a:xfrm>
            <a:off x="673509" y="511278"/>
            <a:ext cx="101419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chemeClr val="accent3">
                    <a:lumMod val="75000"/>
                  </a:schemeClr>
                </a:solidFill>
              </a:rPr>
              <a:t>Diagnostic Insights: Pinpointing Revenue Leaks &amp; Region Risks</a:t>
            </a:r>
            <a:endParaRPr lang="en-IN" sz="3200" b="1" u="sng" dirty="0">
              <a:solidFill>
                <a:schemeClr val="accent3">
                  <a:lumMod val="7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8492C7-5055-C699-F607-564D10A497A9}"/>
              </a:ext>
            </a:extLst>
          </p:cNvPr>
          <p:cNvSpPr txBox="1"/>
          <p:nvPr/>
        </p:nvSpPr>
        <p:spPr>
          <a:xfrm>
            <a:off x="412953" y="21913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PREMIUM SUBSCRIBER DISCOUNT TRAP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3E569-8A4C-18DE-AE41-7148225B12E1}"/>
              </a:ext>
            </a:extLst>
          </p:cNvPr>
          <p:cNvSpPr txBox="1"/>
          <p:nvPr/>
        </p:nvSpPr>
        <p:spPr>
          <a:xfrm>
            <a:off x="752167" y="1427116"/>
            <a:ext cx="946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Cross-tabulated </a:t>
            </a:r>
            <a:r>
              <a:rPr lang="en-IN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behavioral</a:t>
            </a:r>
            <a:r>
              <a:rPr lang="en-IN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data reveals structural flaws in the premium subscriber layer.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DE0800-23D6-663B-9722-63FC7086C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28" y="2896952"/>
            <a:ext cx="575187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Cohort Inversion: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database tracks exactly 1,053 premium subscribers.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Margin Leak: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of these active subscribers used a discount voucher code at checkout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compared to only 21.92% of non-subscribed buyers.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 Value Escalation: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Premium subscribers do not buy higher basket averages. Their average order value sits 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$59.49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virtually identical to non-subscribers ($59.87).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Diagnostic Verdict: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subscription layer currently acts as an automatic margin-dilution loop for your most predictable, recurring customer base instead of driving incremental value.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54219-FD52-A199-CD9A-61205B5E4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031" y="1774720"/>
            <a:ext cx="3901219" cy="2020026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611D38FC-4CAD-5BCE-879A-3A3721774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128" y="3818031"/>
            <a:ext cx="5579808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Organic Pull Hub (Target for Expansion):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Montana: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Yields the brand's maximum regional top-line revenue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$5,784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Holds the country's lowest promotional reliance rate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37.50%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proving authentic organic brand equity.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Promotion Trap (Target for Correction):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Nevada: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Yields high top-line volume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$5,514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Suffers from the nation's highest promotional dependency rate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47.13%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Nearly half of all regional transactions require margin-diluting vouchers to 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59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F212F-775B-8EF3-4CDB-D00A5511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EF4F5C-9151-1ABE-94EE-59897C7FFD5E}"/>
              </a:ext>
            </a:extLst>
          </p:cNvPr>
          <p:cNvSpPr txBox="1"/>
          <p:nvPr/>
        </p:nvSpPr>
        <p:spPr>
          <a:xfrm>
            <a:off x="673509" y="511278"/>
            <a:ext cx="10141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solidFill>
                  <a:schemeClr val="accent3">
                    <a:lumMod val="75000"/>
                  </a:schemeClr>
                </a:solidFill>
              </a:rPr>
              <a:t>The Retention Playbook: Strategic Actions &amp; Ideal Profile</a:t>
            </a:r>
            <a:endParaRPr lang="en-IN" sz="3200" b="1" u="sng" dirty="0">
              <a:solidFill>
                <a:schemeClr val="accent3">
                  <a:lumMod val="7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146A60-1898-0BBD-BA51-154FAD5AA336}"/>
              </a:ext>
            </a:extLst>
          </p:cNvPr>
          <p:cNvSpPr txBox="1"/>
          <p:nvPr/>
        </p:nvSpPr>
        <p:spPr>
          <a:xfrm>
            <a:off x="511275" y="1393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PROMOTIONAL SUNSET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B2E31-E30E-4CDE-8F88-010AB6EBBA56}"/>
              </a:ext>
            </a:extLst>
          </p:cNvPr>
          <p:cNvSpPr txBox="1"/>
          <p:nvPr/>
        </p:nvSpPr>
        <p:spPr>
          <a:xfrm>
            <a:off x="673509" y="945205"/>
            <a:ext cx="946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Restructuring promotional structures and asset allocation using data-backed parameters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</a:t>
            </a:r>
            <a:r>
              <a:rPr lang="en-IN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A405DC-5706-4B5B-44EC-47EAC9CB0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49" y="1724615"/>
            <a:ext cx="5771538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Segment: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High-Value Active Subscribers (1,053 profiles).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extract_text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 Behavior: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Checkout transactions containing recurring promo code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vouchers.extract_text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Rollout Timeline: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90-day phased structural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sunset.extract_text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 1–30: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 all automatic flat percentage discounts at digital checkout.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 31–90: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Transition cohort to margin-neutral experiential perks 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 Priority Shipping, Early Access to Seasonal Drops, and Exclusive Member Size Options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Strategic Trade-Off (Required Rule):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 Gain: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Immediate claw-back of full retail gross margins across our most predictable recurring cohort.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 Risk: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Short-term volume contraction risk of ~5-8% in checkout frequency from opportunistic hunters during the initial 30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days.extract_text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 Metric to Track: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Subscriber Cohort Gross Margin Contribution (AOV Before vs. After Sunset).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extract_text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()].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F2D1DF-8D5B-F952-BDC6-AB2AF3C3D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414" y="1612887"/>
            <a:ext cx="5776451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Purpose: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Redirect programmatic acquisition ad-spend away from high-discount regions (Nevada) toward organic demand sectors (Montana).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extract_text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Data-Backed Targeting Matrix (SQL ICP Output):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Cohort: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Male/Female profiles aligning with top full-price retail buyers.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Purchasing Cadence: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High-habituation clusters displaying a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Fortnightly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buying frequency.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Entry Point: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Route top-of-funnel marketing dollars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 ($104,264 Sales)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Winter/Spring to lock in low-tenure 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users.extract_text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289428-8201-E990-1854-5FE09551A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72" y="4358689"/>
            <a:ext cx="3657601" cy="1418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70E98A-0482-95E5-0797-F967B810DE42}"/>
              </a:ext>
            </a:extLst>
          </p:cNvPr>
          <p:cNvSpPr txBox="1"/>
          <p:nvPr/>
        </p:nvSpPr>
        <p:spPr>
          <a:xfrm>
            <a:off x="6213987" y="5768314"/>
            <a:ext cx="55355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Retention Mechanism:</a:t>
            </a:r>
            <a:r>
              <a:rPr lang="en-IN" sz="1600" dirty="0"/>
              <a:t> Cross-sell </a:t>
            </a:r>
            <a:r>
              <a:rPr lang="en-IN" sz="1600" b="1" dirty="0"/>
              <a:t>Accessories ($74,200 Sales)</a:t>
            </a:r>
            <a:r>
              <a:rPr lang="en-IN" sz="1600" dirty="0"/>
              <a:t>, which naturally holds the highest customer historical tenure (25.73 average previous purchases).</a:t>
            </a:r>
            <a:r>
              <a:rPr lang="en-IN" sz="1600" dirty="0" err="1"/>
              <a:t>extract_text</a:t>
            </a:r>
            <a:r>
              <a:rPr lang="en-IN" sz="1600" dirty="0"/>
              <a:t>()].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B47FE-646B-6D23-F7C1-B7748D1A7ECB}"/>
              </a:ext>
            </a:extLst>
          </p:cNvPr>
          <p:cNvSpPr txBox="1"/>
          <p:nvPr/>
        </p:nvSpPr>
        <p:spPr>
          <a:xfrm>
            <a:off x="6115664" y="13704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THE LOOK-ALIKE TARGET PROFILE (ICP</a:t>
            </a:r>
            <a:r>
              <a:rPr lang="en-IN" b="1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524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6" y="2313599"/>
            <a:ext cx="9773264" cy="2230802"/>
          </a:xfrm>
          <a:noFill/>
        </p:spPr>
        <p:txBody>
          <a:bodyPr anchor="ctr">
            <a:noAutofit/>
          </a:bodyPr>
          <a:lstStyle/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9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F7B615"/>
      </a:hlink>
      <a:folHlink>
        <a:srgbClr val="704404"/>
      </a:folHlink>
    </a:clrScheme>
    <a:fontScheme name="Custom 190">
      <a:majorFont>
        <a:latin typeface="DM Serif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88997677_win32_LW_V2" id="{A337E98B-B78A-4478-A7B4-5BC118FBE473}" vid="{BFD76E1B-16BC-4706-8DD0-46BF66D357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8B1F56-8983-41A9-8E90-86247BC2C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Executive summary</Template>
  <TotalTime>32</TotalTime>
  <Words>740</Words>
  <Application>Microsoft Office PowerPoint</Application>
  <PresentationFormat>Widescreen</PresentationFormat>
  <Paragraphs>56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Aparajita</vt:lpstr>
      <vt:lpstr>Arial</vt:lpstr>
      <vt:lpstr>Calibri</vt:lpstr>
      <vt:lpstr>DM Serif Display</vt:lpstr>
      <vt:lpstr>Google Sans Text</vt:lpstr>
      <vt:lpstr>Source Sans Pro</vt:lpstr>
      <vt:lpstr>Custom</vt:lpstr>
      <vt:lpstr>Decoding Customer Value: A SQL-Driven Retention Strategy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Raj</dc:creator>
  <cp:lastModifiedBy>Aman Raj</cp:lastModifiedBy>
  <cp:revision>1</cp:revision>
  <dcterms:created xsi:type="dcterms:W3CDTF">2026-06-15T10:39:40Z</dcterms:created>
  <dcterms:modified xsi:type="dcterms:W3CDTF">2026-06-15T11:45:16Z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